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 — speaking notes</a:t>
            </a:r>
          </a:p>
          <a:p>
            <a:r>
              <a:t>Open by saying this is not a technology fashion presentation. It is a proposal to give the bank one organised home for its data, inside our own data centres, using enterprise tools with vendor support.</a:t>
            </a:r>
          </a:p>
          <a:p/>
          <a:p>
            <a:r>
              <a:t>Audience mix: senior management, risk, finance, IT, and data teams. Keep language plain. Promise: by the end they will know what a lakehouse is, why we need one, how it stays on-premises, and what changes for the business in three waves.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— speaking notes</a:t>
            </a:r>
          </a:p>
          <a:p>
            <a:r>
              <a:t>Walk the room through the journey: problem → concept → architecture → business case → tools (all on-premises) → roadmap → control → AI.</a:t>
            </a:r>
          </a:p>
          <a:p/>
          <a:p>
            <a:r>
              <a:t>Decision we want: endorsement to design and stand up an on-premises lakehouse as the bank’s system of record for analytics, reporting, and future AI — with no data leaving our data centres.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PROBLEM — speaking notes</a:t>
            </a:r>
          </a:p>
          <a:p>
            <a:r>
              <a:t>Tell it as a story, not an IT architecture complaint.</a:t>
            </a:r>
          </a:p>
          <a:p/>
          <a:p>
            <a:r>
              <a:t>Today the bank’s data is fragmented: a legacy data warehouse, multiple data marts, core-system extracts, and Excel. Each copy drifts. Finance, Risk, and the business often show different numbers for the “same” KPI.</a:t>
            </a:r>
          </a:p>
          <a:p/>
          <a:p>
            <a:r>
              <a:t>Consequences in banking language:</a:t>
            </a:r>
          </a:p>
          <a:p>
            <a:r>
              <a:t>• Reporting is slow. We spend time reconciling, not deciding.</a:t>
            </a:r>
          </a:p>
          <a:p>
            <a:r>
              <a:t>• Audits and regulatory reviews are painful because lineage is incomplete.</a:t>
            </a:r>
          </a:p>
          <a:p>
            <a:r>
              <a:t>• Customer analytics is incomplete — we do not see one customer across products.</a:t>
            </a:r>
          </a:p>
          <a:p>
            <a:r>
              <a:t>• AI and machine learning cannot be industrialised. Models trained on ungoverned copies are a model-risk and privacy problem.</a:t>
            </a:r>
          </a:p>
          <a:p/>
          <a:p>
            <a:r>
              <a:t>Close: this is not a people problem. It is an architecture problem. A lakehouse is how we fix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IS A LAKEHOUSE — speaking notes</a:t>
            </a:r>
          </a:p>
          <a:p>
            <a:r>
              <a:t>Use the analogies. Do not dive into file formats.</a:t>
            </a:r>
          </a:p>
          <a:p/>
          <a:p>
            <a:r>
              <a:t>Warehouse = library. We already have one (or several). It is organised, but it cannot cheaply hold everything, and it is slow to change.</a:t>
            </a:r>
          </a:p>
          <a:p/>
          <a:p>
            <a:r>
              <a:t>Lake = garage. Cheap storage for everything, including messy and new data. On its own, it is not trustworthy enough for finance or the regulator.</a:t>
            </a:r>
          </a:p>
          <a:p/>
          <a:p>
            <a:r>
              <a:t>Lakehouse = one building with a garage and a library. Raw material stays in the garage (bronze). Clean folders sit on the shelves (silver). Published reports sit on the reading table (gold).</a:t>
            </a:r>
          </a:p>
          <a:p/>
          <a:p>
            <a:r>
              <a:t>Repeat the one-sentence definition slowly. That is the slide they should remember.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 WORKS — speaking notes</a:t>
            </a:r>
          </a:p>
          <a:p>
            <a:r>
              <a:t>Keep it conceptual. No file formats, no cluster talk.</a:t>
            </a:r>
          </a:p>
          <a:p/>
          <a:p>
            <a:r>
              <a:t>Layer 1 — Ingestion: we connect once, properly, to core banking, cards, loans, digital channels, payments, HR, and market data.</a:t>
            </a:r>
          </a:p>
          <a:p/>
          <a:p>
            <a:r>
              <a:t>Layer 2 — Storage with bronze / silver / gold:</a:t>
            </a:r>
          </a:p>
          <a:p>
            <a:r>
              <a:t>• Bronze: raw, immutable, like a sealed evidence bag. Essential for audit.</a:t>
            </a:r>
          </a:p>
          <a:p>
            <a:r>
              <a:t>• Silver: cleaned and joined. “Customer ID” and “product code” mean the same across the bank.</a:t>
            </a:r>
          </a:p>
          <a:p>
            <a:r>
              <a:t>• Gold: business-ready. The IFRS number, the NPL ratio, the customer 360 view.</a:t>
            </a:r>
          </a:p>
          <a:p/>
          <a:p>
            <a:r>
              <a:t>Layer 3 — Consumption: Power BI / Tableau packs, risk engines, finance reports, and data science all drink from the same tap.</a:t>
            </a:r>
          </a:p>
          <a:p/>
          <a:p>
            <a:r>
              <a:t>Supermarket analogy: loading dock → stockroom (sorted by quality) → shelf.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WE NEED IT — speaking notes</a:t>
            </a:r>
          </a:p>
          <a:p>
            <a:r>
              <a:t>Benefits first, then proof from peers. Stress these are published results from other banks, not a promise of identical outcomes.</a:t>
            </a:r>
          </a:p>
          <a:p/>
          <a:p>
            <a:r>
              <a:t>1. One source of truth — stop competing versions of “the number”.</a:t>
            </a:r>
          </a:p>
          <a:p>
            <a:r>
              <a:t>2. Speed — reporting and decision cycles compress when reconciliation dies.</a:t>
            </a:r>
          </a:p>
          <a:p>
            <a:r>
              <a:t>3. Risk / finance / customer — same foundation for IFRS, credit, AML, and 360.</a:t>
            </a:r>
          </a:p>
          <a:p>
            <a:r>
              <a:t>4. AI — you cannot industrialise machine learning on Excel extracts.</a:t>
            </a:r>
          </a:p>
          <a:p/>
          <a:p>
            <a:r>
              <a:t>Peer metrics (cite as public case studies):</a:t>
            </a:r>
          </a:p>
          <a:p>
            <a:r>
              <a:t>• Krungsri Bank: 5× system performance; faster regulatory reporting (Cloudera lakehouse).</a:t>
            </a:r>
          </a:p>
          <a:p>
            <a:r>
              <a:t>• Bank Mandiri: processing 7 days → hours; loan qualification 5 days → 1 day.</a:t>
            </a:r>
          </a:p>
          <a:p>
            <a:r>
              <a:t>• Regions Bank: +95% fraud capture, −30% false positives, −50% average daily fraud losses.</a:t>
            </a:r>
          </a:p>
          <a:p>
            <a:r>
              <a:t>• Bank Danamon: +300% campaign conversion; −30% fraud incidents.</a:t>
            </a:r>
          </a:p>
          <a:p>
            <a:r>
              <a:t>• Bank BRI: fraud detection from two months to seconds.</a:t>
            </a:r>
          </a:p>
          <a:p/>
          <a:p>
            <a:r>
              <a:t>If challenged on numbers: they are vendor-published case studies. We will build our own business case in Wave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ON-PREMISES PLATFORM — speaking notes</a:t>
            </a:r>
          </a:p>
          <a:p>
            <a:r>
              <a:t>This is the slide that answers Risk, Compliance, and IT in one breath: we are not sending customer data outside the bank.</a:t>
            </a:r>
          </a:p>
          <a:p/>
          <a:p>
            <a:r>
              <a:t>Emphasise:</a:t>
            </a:r>
          </a:p>
          <a:p>
            <a:r>
              <a:t>• Fully on-premises in our data centres.</a:t>
            </a:r>
          </a:p>
          <a:p>
            <a:r>
              <a:t>• Enterprise, commercially supported products only.</a:t>
            </a:r>
          </a:p>
          <a:p>
            <a:r>
              <a:t>• Hardened for a regulated bank (access, encryption, logging, vendor patches).</a:t>
            </a:r>
          </a:p>
          <a:p/>
          <a:p>
            <a:r>
              <a:t>Building blocks (typical; final shortlist in the design phase):</a:t>
            </a:r>
          </a:p>
          <a:p>
            <a:r>
              <a:t>1. Lakehouse suite — Cloudera Data Platform or equivalent, installed here.</a:t>
            </a:r>
          </a:p>
          <a:p>
            <a:r>
              <a:t>2. SQL engine — Starburst Enterprise or native enterprise SQL on the platform.</a:t>
            </a:r>
          </a:p>
          <a:p>
            <a:r>
              <a:t>3. Catalog/governance — Collibra / Informatica / platform governance (e.g. Cloudera SDX).</a:t>
            </a:r>
          </a:p>
          <a:p>
            <a:r>
              <a:t>4. ETL — Informatica PowerCenter or IBM DataStage.</a:t>
            </a:r>
          </a:p>
          <a:p>
            <a:r>
              <a:t>5. BI — Power BI Report Server or Tableau Server, pointed at on-prem gold.</a:t>
            </a:r>
          </a:p>
          <a:p/>
          <a:p>
            <a:r>
              <a:t>Do not mention public-cloud services or cloud-managed offerings. If asked “why not cloud?”: the bank’s policy is on-premises; this architecture respects that and still gives us a modern lakehouse.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WAVE 1 — speaking notes</a:t>
            </a:r>
          </a:p>
          <a:p>
            <a:r>
              <a:t>Wave 1 is deliberately unglamorous. It is the foundation. Without it, fraud AI and GenAI are theatre.</a:t>
            </a:r>
          </a:p>
          <a:p/>
          <a:p>
            <a:r>
              <a:t>What changes for the business:</a:t>
            </a:r>
          </a:p>
          <a:p>
            <a:r>
              <a:t>• Management packs stop arriving with three versions of the same KPI.</a:t>
            </a:r>
          </a:p>
          <a:p>
            <a:r>
              <a:t>• Finance and regulatory reporting become a production process with lineage, not a heroic Excel exercise.</a:t>
            </a:r>
          </a:p>
          <a:p>
            <a:r>
              <a:t>• A relationship manager or analyst can pull an approved customer 360 without raising a ticket that takes a week.</a:t>
            </a:r>
          </a:p>
          <a:p/>
          <a:p>
            <a:r>
              <a:t>Scope discipline: do not try to ingest the entire bank in year one. Pick finance, risk, and customer domains that already hurt.</a:t>
            </a:r>
          </a:p>
          <a:p/>
          <a:p>
            <a:r>
              <a:t>Success measures to mention: cycle time for key reports; number of retired marts/workbooks; % of official KPIs sourced from gold; user adoption of self-service BI.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WAVES 2 AND 3 — speaking notes</a:t>
            </a:r>
          </a:p>
          <a:p>
            <a:r>
              <a:t>Wave 2 (6–18 months) is where the bank feels protection:</a:t>
            </a:r>
          </a:p>
          <a:p>
            <a:r>
              <a:t>• Fraud: near-real-time scoring. Peer banks have reported large lifts in capture and cuts in false positives.</a:t>
            </a:r>
          </a:p>
          <a:p>
            <a:r>
              <a:t>• Intraday credit: limits and early warning during the day — critical for corporate and cards.</a:t>
            </a:r>
          </a:p>
          <a:p>
            <a:r>
              <a:t>• AML: less noise for investigators, faster cases, better regulator narrative.</a:t>
            </a:r>
          </a:p>
          <a:p/>
          <a:p>
            <a:r>
              <a:t>Wave 3 (12–36 months) is scale:</a:t>
            </a:r>
          </a:p>
          <a:p>
            <a:r>
              <a:t>• Feature store + MLOps: industrial models, not notebooks on laptops.</a:t>
            </a:r>
          </a:p>
          <a:p>
            <a:r>
              <a:t>• GenAI copilot: natural-language query and report drafting, always on gold, always with access control.</a:t>
            </a:r>
          </a:p>
          <a:p>
            <a:r>
              <a:t>• Hyper-personalisation: next-best offer in real time.</a:t>
            </a:r>
          </a:p>
          <a:p/>
          <a:p>
            <a:r>
              <a:t>Governance gate: we do not start Wave 3 AI at scale until lineage, masking, and model inventory are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GOVERNANCE — speaking notes</a:t>
            </a:r>
          </a:p>
          <a:p>
            <a:r>
              <a:t>This is the slide for Risk, Compliance, Audit, and the CDO.</a:t>
            </a:r>
          </a:p>
          <a:p/>
          <a:p>
            <a:r>
              <a:t>Three controls:</a:t>
            </a:r>
          </a:p>
          <a:p>
            <a:r>
              <a:t>1. Catalog + lineage — business glossary and end-to-end paper trail. Non-negotiable for regulatory reporting.</a:t>
            </a:r>
          </a:p>
          <a:p>
            <a:r>
              <a:t>2. Access + masking — need-to-know. Privileged access logged. Default mask of PII and secrets.</a:t>
            </a:r>
          </a:p>
          <a:p>
            <a:r>
              <a:t>3. Quality gates — bronze can be messy; gold cannot. Promotion is a controlled step.</a:t>
            </a:r>
          </a:p>
          <a:p/>
          <a:p>
            <a:r>
              <a:t>Operating model (keep light):</a:t>
            </a:r>
          </a:p>
          <a:p>
            <a:r>
              <a:t>• Workload isolation so a data-science job cannot delay the daily finance pack.</a:t>
            </a:r>
          </a:p>
          <a:p>
            <a:r>
              <a:t>• Chargeback / showback so consumption is visible.</a:t>
            </a:r>
          </a:p>
          <a:p>
            <a:r>
              <a:t>• DevOps for data: versioned pipelines, automated tests, promotion through environments.</a:t>
            </a:r>
          </a:p>
          <a:p/>
          <a:p>
            <a:r>
              <a:t>Owners: Data Management runs the platform with IT. Finance, Risk, and Compliance own their gold products. A data-governance forum arbitrates definitions.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— speaking notes</a:t>
            </a:r>
          </a:p>
          <a:p>
            <a:r>
              <a:t>Connect this deck to the bank’s AI / ML agenda. The lakehouse is the prerequisite, not a rival project.</a:t>
            </a:r>
          </a:p>
          <a:p/>
          <a:p>
            <a:r>
              <a:t>Three platform capabilities:</a:t>
            </a:r>
          </a:p>
          <a:p>
            <a:r>
              <a:t>1. Unified governed data — ends the “can we have a copy for the data science team?” pattern.</a:t>
            </a:r>
          </a:p>
          <a:p>
            <a:r>
              <a:t>2. Feature store + model registry — industrial ML: reusable features, versioned models, challenger/champion, model-risk evidence.</a:t>
            </a:r>
          </a:p>
          <a:p>
            <a:r>
              <a:t>3. GenAI copilot — natural-language query and drafting, bound by the same access and masking as BI.</a:t>
            </a:r>
          </a:p>
          <a:p/>
          <a:p>
            <a:r>
              <a:t>Examples to make it real:</a:t>
            </a:r>
          </a:p>
          <a:p>
            <a:r>
              <a:t>• Credit scoring / limit management with explainability.</a:t>
            </a:r>
          </a:p>
          <a:p>
            <a:r>
              <a:t>• Collections: contact strategy that lifts recovery and treats good customers fairly.</a:t>
            </a:r>
          </a:p>
          <a:p>
            <a:r>
              <a:t>• Regulatory reporting assistant: first draft of a pack from gold tables, analyst reviews.</a:t>
            </a:r>
          </a:p>
          <a:p>
            <a:r>
              <a:t>• Relationship-manager copilot: “What should I know before I call this corporate client?” drawn from Customer 360.</a:t>
            </a:r>
          </a:p>
          <a:p/>
          <a:p>
            <a:r>
              <a:t>Guardrail: GenAI never becomes a second source of truth. It only reads gold, and a human remains accountable.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— speaking notes</a:t>
            </a:r>
          </a:p>
          <a:p>
            <a:r>
              <a:t>Ask for three things, not a blank cheque:</a:t>
            </a:r>
          </a:p>
          <a:p>
            <a:r>
              <a:t>1. Strategic endorsement of an on-premises lakehouse.</a:t>
            </a:r>
          </a:p>
          <a:p>
            <a:r>
              <a:t>2. Executive sponsorship of Wave 1 (EDW, reporting, Customer 360).</a:t>
            </a:r>
          </a:p>
          <a:p>
            <a:r>
              <a:t>3. Reconfirmation that the platform stays in our data centres with enterprise vendors.</a:t>
            </a:r>
          </a:p>
          <a:p/>
          <a:p>
            <a:r>
              <a:t>Then describe the 90-day work: architecture and product shortlist, domain selection, governance forum, investment case.</a:t>
            </a:r>
          </a:p>
          <a:p/>
          <a:p>
            <a:r>
              <a:t>Close line: “We do not need another warehouse, another mart, and another Excel. We need one home for the bank’s data — organised, governed, and here.”</a:t>
            </a:r>
          </a:p>
          <a:p/>
          <a:p>
            <a:r>
              <a:t>Handle Q&amp;A:</a:t>
            </a:r>
          </a:p>
          <a:p>
            <a:r>
              <a:t>• Cloud? Out of scope by policy. This design is fully on-premises.</a:t>
            </a:r>
          </a:p>
          <a:p>
            <a:r>
              <a:t>• Open source only? No. Commercial products with support and hardening.</a:t>
            </a:r>
          </a:p>
          <a:p>
            <a:r>
              <a:t>• Cost? 90-day investment case. Peer banks recoup via reporting time, fraud, and campaign lift.</a:t>
            </a:r>
          </a:p>
          <a:p>
            <a:r>
              <a:t>• Risk of big-bang? We will not. Three waves, gold-quality gates, start with painful domains.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32520" y="0"/>
            <a:ext cx="3459175" cy="6858000"/>
          </a:xfrm>
          <a:prstGeom prst="rect">
            <a:avLst/>
          </a:prstGeom>
          <a:solidFill>
            <a:srgbClr val="07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732520" y="0"/>
            <a:ext cx="54864" cy="6858000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02920"/>
            <a:ext cx="76809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QNB  ·  GROUP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841248"/>
            <a:ext cx="1463040" cy="32004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7680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INTERNAL DATA STRATEGY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7772400" cy="1737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Introducing 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On-Premises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Data Lakehouse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03320"/>
            <a:ext cx="76809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One trusted home for the bank’s data — built in our data centres, with commercially supported tools, ready for finance, risk, and AI.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89320"/>
            <a:ext cx="76809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A9BAD"/>
                </a:solidFill>
                <a:latin typeface="Calibri"/>
                <a:ea typeface="Calibri"/>
                <a:cs typeface="Calibri"/>
              </a:rPr>
              <a:t>Confidential  ·  Data Management  · 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06840" y="777240"/>
            <a:ext cx="2880360" cy="1508760"/>
          </a:xfrm>
          <a:prstGeom prst="roundRect">
            <a:avLst>
              <a:gd name="adj" fmla="val 10000"/>
            </a:avLst>
          </a:prstGeom>
          <a:solidFill>
            <a:srgbClr val="12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89720" y="978408"/>
            <a:ext cx="25146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89720" y="1581912"/>
            <a:ext cx="25146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On-premises — in our own data centres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40" y="2514600"/>
            <a:ext cx="2880360" cy="1508760"/>
          </a:xfrm>
          <a:prstGeom prst="roundRect">
            <a:avLst>
              <a:gd name="adj" fmla="val 10000"/>
            </a:avLst>
          </a:prstGeom>
          <a:solidFill>
            <a:srgbClr val="12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89720" y="2715768"/>
            <a:ext cx="25146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3 waves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3319272"/>
            <a:ext cx="25146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Reporting, then protection, then AI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40" y="4251960"/>
            <a:ext cx="2880360" cy="1508760"/>
          </a:xfrm>
          <a:prstGeom prst="roundRect">
            <a:avLst>
              <a:gd name="adj" fmla="val 10000"/>
            </a:avLst>
          </a:prstGeom>
          <a:solidFill>
            <a:srgbClr val="12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9720" y="4453128"/>
            <a:ext cx="25146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1 home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5056632"/>
            <a:ext cx="25146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single trusted source of truth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64592"/>
            <a:ext cx="4572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01C33"/>
                </a:solidFill>
                <a:latin typeface="Calibri"/>
                <a:ea typeface="Calibri"/>
                <a:cs typeface="Calibri"/>
              </a:rPr>
              <a:t>QNB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53167" y="164592"/>
            <a:ext cx="14630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02  / 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438912"/>
            <a:ext cx="11240719" cy="16459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530352"/>
            <a:ext cx="11240719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768096"/>
            <a:ext cx="11240719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Today’s discussion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152144"/>
            <a:ext cx="11240719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Eight topics — from the filing-cabinet problem to a governed path for AI.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664208"/>
            <a:ext cx="5440680" cy="96012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664208"/>
            <a:ext cx="73152" cy="960120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1810512"/>
            <a:ext cx="6400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1810512"/>
            <a:ext cx="43434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The problem today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4168" y="2121408"/>
            <a:ext cx="43434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Why our data is scattered, slow, and hard to audit.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17336" y="1664208"/>
            <a:ext cx="5440680" cy="96012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17336" y="1664208"/>
            <a:ext cx="73152" cy="960120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1810512"/>
            <a:ext cx="6400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6016" y="1810512"/>
            <a:ext cx="43434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What a lakehouse 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2121408"/>
            <a:ext cx="43434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Warehouse, lake, and lakehouse — in plain English.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752344"/>
            <a:ext cx="5440680" cy="96012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5488" y="2752344"/>
            <a:ext cx="73152" cy="960120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2898648"/>
            <a:ext cx="6400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44168" y="2898648"/>
            <a:ext cx="43434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How it works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3209544"/>
            <a:ext cx="43434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Ingestion, bronze / silver / gold, and how people use it.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17336" y="2752344"/>
            <a:ext cx="5440680" cy="96012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17336" y="2752344"/>
            <a:ext cx="73152" cy="960120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18504" y="2898648"/>
            <a:ext cx="6400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86016" y="2898648"/>
            <a:ext cx="43434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Why the bank needs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3209544"/>
            <a:ext cx="43434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One source of truth, faster decisions, peer results.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8" y="3840480"/>
            <a:ext cx="5440680" cy="96012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75488" y="3840480"/>
            <a:ext cx="73152" cy="960120"/>
          </a:xfrm>
          <a:prstGeom prst="rect">
            <a:avLst/>
          </a:prstGeom>
          <a:solidFill>
            <a:srgbClr val="70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3986784"/>
            <a:ext cx="6400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44168" y="3986784"/>
            <a:ext cx="43434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On-premises platform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4168" y="4297680"/>
            <a:ext cx="43434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Enterprise tools that run only in our data centres.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17336" y="3840480"/>
            <a:ext cx="5440680" cy="96012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17336" y="3840480"/>
            <a:ext cx="73152" cy="960120"/>
          </a:xfrm>
          <a:prstGeom prst="rect">
            <a:avLst/>
          </a:prstGeom>
          <a:solidFill>
            <a:srgbClr val="70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18504" y="3986784"/>
            <a:ext cx="6400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86016" y="3986784"/>
            <a:ext cx="43434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Use-case roadmap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86016" y="4297680"/>
            <a:ext cx="43434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Three waves: reporting → protection → AI.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75488" y="4928616"/>
            <a:ext cx="5440680" cy="96012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75488" y="4928616"/>
            <a:ext cx="73152" cy="960120"/>
          </a:xfrm>
          <a:prstGeom prst="rect">
            <a:avLst/>
          </a:prstGeom>
          <a:solidFill>
            <a:srgbClr val="70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6656" y="5074920"/>
            <a:ext cx="6400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44168" y="5074920"/>
            <a:ext cx="43434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Governance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44168" y="5385816"/>
            <a:ext cx="43434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Catalog, access, quality, and how we will operate it.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17336" y="4928616"/>
            <a:ext cx="5440680" cy="96012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17336" y="4928616"/>
            <a:ext cx="73152" cy="960120"/>
          </a:xfrm>
          <a:prstGeom prst="rect">
            <a:avLst/>
          </a:prstGeom>
          <a:solidFill>
            <a:srgbClr val="70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18504" y="5074920"/>
            <a:ext cx="6400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08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86016" y="5074920"/>
            <a:ext cx="43434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Path to AI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86016" y="5385816"/>
            <a:ext cx="43434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How the lakehouse becomes the bank’s AI foundation.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5488" y="6620256"/>
            <a:ext cx="11240719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Confidential  ·  Internal use only  ·  On-premises data lakehouse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64592"/>
            <a:ext cx="4572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01C33"/>
                </a:solidFill>
                <a:latin typeface="Calibri"/>
                <a:ea typeface="Calibri"/>
                <a:cs typeface="Calibri"/>
              </a:rPr>
              <a:t>QNB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53167" y="164592"/>
            <a:ext cx="14630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03  / 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438912"/>
            <a:ext cx="11240719" cy="16459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530352"/>
            <a:ext cx="11240719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THE PROBLEM 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768096"/>
            <a:ext cx="11240719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Our data lives in too many filing cabinets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152144"/>
            <a:ext cx="11240719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Every team has a cabinet. Copies multiply. Nobody is sure which folder is the original.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627632"/>
            <a:ext cx="11240719" cy="713232"/>
          </a:xfrm>
          <a:prstGeom prst="roundRect">
            <a:avLst>
              <a:gd name="adj" fmla="val 8000"/>
            </a:avLst>
          </a:prstGeom>
          <a:solidFill>
            <a:srgbClr val="F4E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00784"/>
            <a:ext cx="10783519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Analogy: a messy garage with a labelled box for Finance, another for Risk, a shoebox of Excel files for Cards, and a drawer nobody has opened since the last system change. When the auditor — or the CEO — asks for one number, we open five boxes.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2487168"/>
            <a:ext cx="2697480" cy="2907792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76656" y="2688336"/>
            <a:ext cx="347472" cy="347472"/>
          </a:xfrm>
          <a:prstGeom prst="ellipse">
            <a:avLst/>
          </a:prstGeom>
          <a:solidFill>
            <a:srgbClr val="70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706624"/>
            <a:ext cx="347472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200400"/>
            <a:ext cx="2331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Scattered systems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858768"/>
            <a:ext cx="233172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Core banking, cards, loans, digital channels, finance, and risk each keep their own version of the customer and the balance sheet.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37560" y="2487168"/>
            <a:ext cx="2697480" cy="2907792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8728" y="2688336"/>
            <a:ext cx="347472" cy="347472"/>
          </a:xfrm>
          <a:prstGeom prst="ellipse">
            <a:avLst/>
          </a:prstGeom>
          <a:solidFill>
            <a:srgbClr val="70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8728" y="2706624"/>
            <a:ext cx="347472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3200400"/>
            <a:ext cx="2331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Excel as a system of record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858768"/>
            <a:ext cx="233172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Critical numbers live in personal workbooks. When someone is on leave, the “official” report is missing.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2487168"/>
            <a:ext cx="2697480" cy="2907792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0" y="2688336"/>
            <a:ext cx="347472" cy="347472"/>
          </a:xfrm>
          <a:prstGeom prst="ellipse">
            <a:avLst/>
          </a:prstGeom>
          <a:solidFill>
            <a:srgbClr val="70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706624"/>
            <a:ext cx="347472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3200400"/>
            <a:ext cx="2331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Slow reporting and decisions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3858768"/>
            <a:ext cx="233172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Month-end, ALCO, and regulatory packs take days because teams first argue whose number is right.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61704" y="2487168"/>
            <a:ext cx="2697480" cy="2907792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262872" y="2688336"/>
            <a:ext cx="347472" cy="347472"/>
          </a:xfrm>
          <a:prstGeom prst="ellipse">
            <a:avLst/>
          </a:prstGeom>
          <a:solidFill>
            <a:srgbClr val="70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62872" y="2706624"/>
            <a:ext cx="347472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584" y="3200400"/>
            <a:ext cx="2331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Painful audits — blocked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4584" y="3858768"/>
            <a:ext cx="233172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We struggle to show where a figure came from. Data science cannot safely train models on copies we cannot govern.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5488" y="6620256"/>
            <a:ext cx="11240719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Confidential  ·  Internal use only  ·  On-premises data lakehouse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64592"/>
            <a:ext cx="4572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01C33"/>
                </a:solidFill>
                <a:latin typeface="Calibri"/>
                <a:ea typeface="Calibri"/>
                <a:cs typeface="Calibri"/>
              </a:rPr>
              <a:t>QNB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53167" y="164592"/>
            <a:ext cx="14630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04  / 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438912"/>
            <a:ext cx="11240719" cy="16459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530352"/>
            <a:ext cx="11240719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WHAT IS A DATA LAKEHOUSE?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768096"/>
            <a:ext cx="11240719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Library, garage — then both, in one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152144"/>
            <a:ext cx="11240719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Three ideas. One sentence you can repeat in a management meeting.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627632"/>
            <a:ext cx="3611880" cy="3246120"/>
          </a:xfrm>
          <a:prstGeom prst="roundRect">
            <a:avLst>
              <a:gd name="adj" fmla="val 8000"/>
            </a:avLst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627632"/>
            <a:ext cx="3611880" cy="73152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883664"/>
            <a:ext cx="31089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157984"/>
            <a:ext cx="31089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Data warehouse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60320"/>
            <a:ext cx="31089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The organised library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999232"/>
            <a:ext cx="310896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8EEF4"/>
                </a:solidFill>
                <a:latin typeface="Calibri"/>
                <a:ea typeface="Calibri"/>
                <a:cs typeface="Calibri"/>
              </a:rPr>
              <a:t>Shelves, a catalogue, and strict rules. Excellent for finance and regulatory reports. Expensive and slow when we need new kinds of data — clickstreams, documents, images, or model features.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70248" y="1627632"/>
            <a:ext cx="3611880" cy="3246120"/>
          </a:xfrm>
          <a:prstGeom prst="roundRect">
            <a:avLst>
              <a:gd name="adj" fmla="val 8000"/>
            </a:avLst>
          </a:prstGeom>
          <a:solidFill>
            <a:srgbClr val="12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70248" y="1627632"/>
            <a:ext cx="3611880" cy="73152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1883664"/>
            <a:ext cx="31089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157984"/>
            <a:ext cx="31089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Data lake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2560320"/>
            <a:ext cx="31089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The big storage garage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999232"/>
            <a:ext cx="310896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8EEF4"/>
                </a:solidFill>
                <a:latin typeface="Calibri"/>
                <a:ea typeface="Calibri"/>
                <a:cs typeface="Calibri"/>
              </a:rPr>
              <a:t>You can put everything in it, economically. Without discipline it becomes a junk pile: hard to find, hard to trust, hard to audit. A lake alone is not enough for a bank.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5008" y="1627632"/>
            <a:ext cx="3611880" cy="3246120"/>
          </a:xfrm>
          <a:prstGeom prst="roundRect">
            <a:avLst>
              <a:gd name="adj" fmla="val 8000"/>
            </a:avLst>
          </a:prstGeom>
          <a:solidFill>
            <a:srgbClr val="70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65008" y="1627632"/>
            <a:ext cx="3611880" cy="73152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0" y="1883664"/>
            <a:ext cx="31089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157984"/>
            <a:ext cx="31089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Data lakehouse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560320"/>
            <a:ext cx="31089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Library + garage in one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2999232"/>
            <a:ext cx="310896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3E4E8"/>
                </a:solidFill>
                <a:latin typeface="Calibri"/>
                <a:ea typeface="Calibri"/>
                <a:cs typeface="Calibri"/>
              </a:rPr>
              <a:t>Keep all data economically. Organise the important parts like a library. One platform for reports, risk, customer analytics, and AI — with the controls a bank needs.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029200"/>
            <a:ext cx="11240719" cy="1325880"/>
          </a:xfrm>
          <a:prstGeom prst="roundRect">
            <a:avLst>
              <a:gd name="adj" fmla="val 8000"/>
            </a:avLst>
          </a:prstGeom>
          <a:solidFill>
            <a:srgbClr val="F4E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138928"/>
            <a:ext cx="10783519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01C33"/>
                </a:solidFill>
                <a:latin typeface="Calibri"/>
                <a:ea typeface="Calibri"/>
                <a:cs typeface="Calibri"/>
              </a:rPr>
              <a:t>ONE-SENTENCE DEFINITION  (for non-technical managers)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5413248"/>
            <a:ext cx="10783519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A data lakehouse is a single, organised home for all of the bank’s data — economical enough to keep everything, structured enough to trust for reports, risk, and AI.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620256"/>
            <a:ext cx="11240719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Confidential  ·  Internal use only  ·  On-premises data lakehouse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64592"/>
            <a:ext cx="4572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01C33"/>
                </a:solidFill>
                <a:latin typeface="Calibri"/>
                <a:ea typeface="Calibri"/>
                <a:cs typeface="Calibri"/>
              </a:rPr>
              <a:t>QNB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53167" y="164592"/>
            <a:ext cx="14630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05  / 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438912"/>
            <a:ext cx="11240719" cy="16459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530352"/>
            <a:ext cx="11240719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HOW A LAKEHOUSE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768096"/>
            <a:ext cx="11240719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Three layers — like a supermarket supply chain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152144"/>
            <a:ext cx="11240719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Goods arrive at the loading dock, are sorted in the stockroom, then appear on the shelf for the business.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572768"/>
            <a:ext cx="3611880" cy="1874519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8368" y="1755648"/>
            <a:ext cx="329184" cy="329184"/>
          </a:xfrm>
          <a:prstGeom prst="ellipse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773936"/>
            <a:ext cx="329184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1737360"/>
            <a:ext cx="2834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Ingestion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1993392"/>
            <a:ext cx="28346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A7B3C"/>
                </a:solidFill>
                <a:latin typeface="Calibri"/>
                <a:ea typeface="Calibri"/>
                <a:cs typeface="Calibri"/>
              </a:rPr>
              <a:t>Bringing data 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322576"/>
            <a:ext cx="324612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Core banking, cards, loans, payments, digital channels, HR, and market data. Scheduled batches and near-real-time feeds.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70248" y="1572768"/>
            <a:ext cx="3611880" cy="1874519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53128" y="1755648"/>
            <a:ext cx="329184" cy="329184"/>
          </a:xfrm>
          <a:prstGeom prst="ellipse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53128" y="1773936"/>
            <a:ext cx="329184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3752" y="1737360"/>
            <a:ext cx="2834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Storage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73752" y="1993392"/>
            <a:ext cx="28346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A7B3C"/>
                </a:solidFill>
                <a:latin typeface="Calibri"/>
                <a:ea typeface="Calibri"/>
                <a:cs typeface="Calibri"/>
              </a:rPr>
              <a:t>Keeping it organised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3128" y="2322576"/>
            <a:ext cx="324612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One platform, three quality levels: bronze, silver, and gold. Same data, increasing trust.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5008" y="1572768"/>
            <a:ext cx="3611880" cy="1874519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47888" y="1755648"/>
            <a:ext cx="329184" cy="329184"/>
          </a:xfrm>
          <a:prstGeom prst="ellipse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1773936"/>
            <a:ext cx="329184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68512" y="1737360"/>
            <a:ext cx="2834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Consumption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68512" y="1993392"/>
            <a:ext cx="28346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A7B3C"/>
                </a:solidFill>
                <a:latin typeface="Calibri"/>
                <a:ea typeface="Calibri"/>
                <a:cs typeface="Calibri"/>
              </a:rPr>
              <a:t>Putting it to work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7888" y="2322576"/>
            <a:ext cx="324612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BI dashboards, finance and risk reports, customer analytics, and data science / AI — all reading from gold (and silver where needed).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" y="3584448"/>
            <a:ext cx="11240719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701C33"/>
                </a:solidFill>
                <a:latin typeface="Calibri"/>
                <a:ea typeface="Calibri"/>
                <a:cs typeface="Calibri"/>
              </a:rPr>
              <a:t>INSIDE STORAGE:  three quality levels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3877056"/>
            <a:ext cx="3611880" cy="2029968"/>
          </a:xfrm>
          <a:prstGeom prst="roundRect">
            <a:avLst>
              <a:gd name="adj" fmla="val 10000"/>
            </a:avLst>
          </a:prstGeom>
          <a:solidFill>
            <a:srgbClr val="B8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944" y="4023360"/>
            <a:ext cx="3200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Bronze  ·  raw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" y="4315968"/>
            <a:ext cx="3200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Sealed evidence bag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" y="4663440"/>
            <a:ext cx="32004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Kept exactly as received. We never lose the original. Used when we must replay or investigate.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70248" y="3877056"/>
            <a:ext cx="3611880" cy="2029968"/>
          </a:xfrm>
          <a:prstGeom prst="roundRect">
            <a:avLst>
              <a:gd name="adj" fmla="val 10000"/>
            </a:avLst>
          </a:prstGeom>
          <a:solidFill>
            <a:srgbClr val="6B7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89704" y="4023360"/>
            <a:ext cx="3200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Silver  ·  cleaned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9704" y="4315968"/>
            <a:ext cx="3200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Well-labelled folder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9704" y="4663440"/>
            <a:ext cx="32004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Standardised names, dates, and product codes. Records joined so “customer” means the same thing.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65008" y="3877056"/>
            <a:ext cx="3611880" cy="2029968"/>
          </a:xfrm>
          <a:prstGeom prst="roundRect">
            <a:avLst>
              <a:gd name="adj" fmla="val 10000"/>
            </a:avLst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84464" y="4023360"/>
            <a:ext cx="3200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Gold  ·  business-ready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84464" y="4315968"/>
            <a:ext cx="3200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Published management pack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84464" y="4663440"/>
            <a:ext cx="32004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Agreed tables and metrics. This is what Finance, Risk, ALCO, and the business consume.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" y="6620256"/>
            <a:ext cx="11240719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Confidential  ·  Internal use only  ·  On-premises data lakehouse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64592"/>
            <a:ext cx="4572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01C33"/>
                </a:solidFill>
                <a:latin typeface="Calibri"/>
                <a:ea typeface="Calibri"/>
                <a:cs typeface="Calibri"/>
              </a:rPr>
              <a:t>QNB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53167" y="164592"/>
            <a:ext cx="14630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06  / 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438912"/>
            <a:ext cx="11240719" cy="16459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530352"/>
            <a:ext cx="11240719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WHY THE BANK NEEDS A LAKEHOUSE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768096"/>
            <a:ext cx="11240719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One trusted source — faster answers, safer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152144"/>
            <a:ext cx="11240719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Benefits in business language, plus publicly reported results from peer banks.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572768"/>
            <a:ext cx="5623560" cy="1078992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719072"/>
            <a:ext cx="5029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1700784"/>
            <a:ext cx="47548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One source of truth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2011680"/>
            <a:ext cx="47548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Customer, product, and risk numbers mean the same thing in every pack — Finance, Risk, and the business.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" y="2724912"/>
            <a:ext cx="5623560" cy="1078992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871216"/>
            <a:ext cx="5029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2852928"/>
            <a:ext cx="47548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Faster reports and decisions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" y="3163824"/>
            <a:ext cx="47548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Less time reconciling workbooks. Shorter month-end, faster ALCO, quicker answers to the regulator.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3877056"/>
            <a:ext cx="5623560" cy="1078992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023360"/>
            <a:ext cx="5029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" y="4005072"/>
            <a:ext cx="47548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Better risk, finance, customers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4315968"/>
            <a:ext cx="47548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Credit, liquidity, IFRS, AML, and a true Customer 360 sit on the same governed foundation.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" y="5029200"/>
            <a:ext cx="5623560" cy="1078992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175504"/>
            <a:ext cx="5029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" y="5157216"/>
            <a:ext cx="47548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Foundation for AI and ML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" y="5468112"/>
            <a:ext cx="47548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Models train on data we can explain, mask, and audit — not on a copy of a copy in a laptop folder.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1572768"/>
            <a:ext cx="5394960" cy="4608576"/>
          </a:xfrm>
          <a:prstGeom prst="roundRect">
            <a:avLst>
              <a:gd name="adj" fmla="val 8000"/>
            </a:avLst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65392" y="1700784"/>
            <a:ext cx="48920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WHAT PEER BANKS HAVE REPORTED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65392" y="1956816"/>
            <a:ext cx="4892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B8C4D4"/>
                </a:solidFill>
                <a:latin typeface="Calibri"/>
                <a:ea typeface="Calibri"/>
                <a:cs typeface="Calibri"/>
              </a:rPr>
              <a:t>Public case studies on commercially supported platforms.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5392" y="2340864"/>
            <a:ext cx="123444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5×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2340864"/>
            <a:ext cx="35661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Faster platform performance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2615184"/>
            <a:ext cx="3566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B8C4D4"/>
                </a:solidFill>
                <a:latin typeface="Calibri"/>
                <a:ea typeface="Calibri"/>
                <a:cs typeface="Calibri"/>
              </a:rPr>
              <a:t>Krungsri Bank · quicker regulatory packs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65392" y="3054096"/>
            <a:ext cx="123444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Hours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054096"/>
            <a:ext cx="35661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 process data (was 7 days)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3328416"/>
            <a:ext cx="3566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B8C4D4"/>
                </a:solidFill>
                <a:latin typeface="Calibri"/>
                <a:ea typeface="Calibri"/>
                <a:cs typeface="Calibri"/>
              </a:rPr>
              <a:t>Bank Mandiri · loans 5 days → 1 day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65392" y="3767328"/>
            <a:ext cx="123444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+95%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3767328"/>
            <a:ext cx="35661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Fraud capture  ·  −50% losses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3840" y="4041648"/>
            <a:ext cx="3566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B8C4D4"/>
                </a:solidFill>
                <a:latin typeface="Calibri"/>
                <a:ea typeface="Calibri"/>
                <a:cs typeface="Calibri"/>
              </a:rPr>
              <a:t>Regions Bank · −30% false-positive alerts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65392" y="4480560"/>
            <a:ext cx="123444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+300%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0" y="4480560"/>
            <a:ext cx="35661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Campaign conversion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4754880"/>
            <a:ext cx="3566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B8C4D4"/>
                </a:solidFill>
                <a:latin typeface="Calibri"/>
                <a:ea typeface="Calibri"/>
                <a:cs typeface="Calibri"/>
              </a:rPr>
              <a:t>Bank Danamon · −30% fraud incidents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65392" y="5193792"/>
            <a:ext cx="123444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Seconds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63840" y="5193792"/>
            <a:ext cx="35661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 detect fraud (was months)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63840" y="5468112"/>
            <a:ext cx="3566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B8C4D4"/>
                </a:solidFill>
                <a:latin typeface="Calibri"/>
                <a:ea typeface="Calibri"/>
                <a:cs typeface="Calibri"/>
              </a:rPr>
              <a:t>Bank BRI · from overnight files to live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5488" y="6620256"/>
            <a:ext cx="11240719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Confidential  ·  Peer figures are illustrative, not a forecast for QNB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64592"/>
            <a:ext cx="4572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01C33"/>
                </a:solidFill>
                <a:latin typeface="Calibri"/>
                <a:ea typeface="Calibri"/>
                <a:cs typeface="Calibri"/>
              </a:rPr>
              <a:t>QNB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53167" y="164592"/>
            <a:ext cx="14630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07  / 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438912"/>
            <a:ext cx="11240719" cy="16459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530352"/>
            <a:ext cx="11240719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ON-PREMISES ENTERPRISE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768096"/>
            <a:ext cx="11240719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Commercial tools — inside our data centres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152144"/>
            <a:ext cx="11240719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No data leaves the bank. Every component is a commercially supported product we deploy and harden ourselves.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572768"/>
            <a:ext cx="3611880" cy="1874519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572768"/>
            <a:ext cx="3611880" cy="64008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1737360"/>
            <a:ext cx="32004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1956816"/>
            <a:ext cx="32004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Lakehouse platform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286000"/>
            <a:ext cx="3200400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Enterprise data platform / lakehouse suite (e.g. Cloudera Data Platform) installed in our data centres. Stores bronze, silver, and gold. Built for regulated industries.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0248" y="1572768"/>
            <a:ext cx="3611880" cy="1874519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0248" y="1572768"/>
            <a:ext cx="3611880" cy="64008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1737360"/>
            <a:ext cx="32004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1956816"/>
            <a:ext cx="32004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SQL &amp; analytics engine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1416" y="2286000"/>
            <a:ext cx="3200400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Enterprise SQL engine (e.g. Starburst Enterprise or the platform’s own engine). Finance, Risk, and analysts keep using SQL they already know.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65008" y="1572768"/>
            <a:ext cx="3611880" cy="1874519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65008" y="1572768"/>
            <a:ext cx="3611880" cy="64008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66176" y="1737360"/>
            <a:ext cx="32004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6" y="1956816"/>
            <a:ext cx="32004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Catalog &amp; governance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6176" y="2286000"/>
            <a:ext cx="3200400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Enterprise catalog (e.g. Collibra, Informatica, or the platform’s governance module). Business glossary, lineage, and access policy in one place.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92527" y="3593591"/>
            <a:ext cx="3611880" cy="1874519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392527" y="3593591"/>
            <a:ext cx="3611880" cy="64008"/>
          </a:xfrm>
          <a:prstGeom prst="rect">
            <a:avLst/>
          </a:prstGeom>
          <a:solidFill>
            <a:srgbClr val="70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593695" y="3758183"/>
            <a:ext cx="32004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01C33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93695" y="3977639"/>
            <a:ext cx="32004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Integration / ETL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93695" y="4306823"/>
            <a:ext cx="3200400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Enterprise integration tool (e.g. Informatica PowerCenter or IBM DataStage). Supported, auditable pipelines from core systems into the lakehouse.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87287" y="3593591"/>
            <a:ext cx="3611880" cy="1874519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87287" y="3593591"/>
            <a:ext cx="3611880" cy="64008"/>
          </a:xfrm>
          <a:prstGeom prst="rect">
            <a:avLst/>
          </a:prstGeom>
          <a:solidFill>
            <a:srgbClr val="70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88455" y="3758183"/>
            <a:ext cx="32004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01C33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8455" y="3977639"/>
            <a:ext cx="32004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Business intelligence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8455" y="4306823"/>
            <a:ext cx="3200400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On-premises BI (e.g. Power BI Report Server or Tableau Server) connected to gold data. Dashboards never require data to leave the data centre.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5488" y="5650992"/>
            <a:ext cx="11240719" cy="804672"/>
          </a:xfrm>
          <a:prstGeom prst="roundRect">
            <a:avLst>
              <a:gd name="adj" fmla="val 8000"/>
            </a:avLst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8" y="5742432"/>
            <a:ext cx="10783519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All components run inside the bank’s data centres, with vendor support, security hardening, and auditability designed for a regulated environment. Nothing is “open-source only.” Nothing is operated outside our walls.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5488" y="6620256"/>
            <a:ext cx="11240719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Confidential  ·  Internal use only  ·  On-premises data lakehouse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64592"/>
            <a:ext cx="4572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01C33"/>
                </a:solidFill>
                <a:latin typeface="Calibri"/>
                <a:ea typeface="Calibri"/>
                <a:cs typeface="Calibri"/>
              </a:rPr>
              <a:t>QNB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53167" y="164592"/>
            <a:ext cx="14630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08  / 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438912"/>
            <a:ext cx="11240719" cy="16459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530352"/>
            <a:ext cx="11240719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PRIORITY USE CASES  ·  WAVE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768096"/>
            <a:ext cx="11240719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0–12 months — get the house in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152144"/>
            <a:ext cx="11240719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What changes: leaders get one agreed view. Reporting cycles shorten. Analysts serve themselves instead of waiting in a queue.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572768"/>
            <a:ext cx="11240719" cy="1298448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572768"/>
            <a:ext cx="91440" cy="1298448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19072"/>
            <a:ext cx="5486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9888" y="1719072"/>
            <a:ext cx="7772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EDW modernisation &amp; consolidation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029968"/>
            <a:ext cx="9509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Bring the legacy warehouse, data marts, and key Excel extracts onto one platform. Reduce duplicate copies and unofficial “shadow” reports.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2505456"/>
            <a:ext cx="95097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01C33"/>
                </a:solidFill>
                <a:latin typeface="Calibri"/>
                <a:ea typeface="Calibri"/>
                <a:cs typeface="Calibri"/>
              </a:rPr>
              <a:t>IT and Data  ·  Finance  ·  Risk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" y="2980944"/>
            <a:ext cx="11240719" cy="1298448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5488" y="2980944"/>
            <a:ext cx="91440" cy="1298448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3127248"/>
            <a:ext cx="5486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9888" y="3127248"/>
            <a:ext cx="7772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Regulatory &amp; financial reporting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438144"/>
            <a:ext cx="9509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Faster, repeatable packs for Finance, the regulator, and ALCO. Every figure has a lineage trail — from gold table back to the source system.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913632"/>
            <a:ext cx="95097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01C33"/>
                </a:solidFill>
                <a:latin typeface="Calibri"/>
                <a:ea typeface="Calibri"/>
                <a:cs typeface="Calibri"/>
              </a:rPr>
              <a:t>Finance  ·  Regulatory reporting  ·  Audit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" y="4389120"/>
            <a:ext cx="11240719" cy="1298448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75488" y="4389120"/>
            <a:ext cx="91440" cy="1298448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535424"/>
            <a:ext cx="5486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9888" y="4535424"/>
            <a:ext cx="7772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Customer 360 &amp; self-service analytics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4846320"/>
            <a:ext cx="9509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One view of the customer across deposits, cards, loans, and digital. Business users explore gold data in BI tools, within their access rights.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89888" y="5321808"/>
            <a:ext cx="95097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01C33"/>
                </a:solidFill>
                <a:latin typeface="Calibri"/>
                <a:ea typeface="Calibri"/>
                <a:cs typeface="Calibri"/>
              </a:rPr>
              <a:t>Retail  ·  Corporate  ·  Marketing  ·  Analytics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833872"/>
            <a:ext cx="11240719" cy="621792"/>
          </a:xfrm>
          <a:prstGeom prst="roundRect">
            <a:avLst>
              <a:gd name="adj" fmla="val 8000"/>
            </a:avLst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943600"/>
            <a:ext cx="10783519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Wave 1 outcome:  trust the numbers  ·  close the books faster  ·  see the customer as one person.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6620256"/>
            <a:ext cx="11240719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Confidential  ·  Internal use only  ·  On-premises data lakehouse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64592"/>
            <a:ext cx="4572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01C33"/>
                </a:solidFill>
                <a:latin typeface="Calibri"/>
                <a:ea typeface="Calibri"/>
                <a:cs typeface="Calibri"/>
              </a:rPr>
              <a:t>QNB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53167" y="164592"/>
            <a:ext cx="14630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09  / 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438912"/>
            <a:ext cx="11240719" cy="16459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530352"/>
            <a:ext cx="11240719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PRIORITY USE CASES  ·  WAVES 2 AND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768096"/>
            <a:ext cx="11240719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Protect the bank — then industrialise intelligence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152144"/>
            <a:ext cx="11240719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Wave 2 overlaps Wave 1. Wave 3 only starts once gold data and governance are real.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554480"/>
            <a:ext cx="5486400" cy="4645152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554480"/>
            <a:ext cx="5486400" cy="640080"/>
          </a:xfrm>
          <a:prstGeom prst="rect">
            <a:avLst/>
          </a:prstGeom>
          <a:solidFill>
            <a:srgbClr val="70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1664208"/>
            <a:ext cx="50292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WAVE 2   ·   6–18 MONTHS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1901952"/>
            <a:ext cx="50292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Protect the bank in the moment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331720"/>
            <a:ext cx="4983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Near-real-time fraud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587752"/>
            <a:ext cx="49834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Score transactions as they happen. Stop more fraud, bother genuine customers less.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91840"/>
            <a:ext cx="4983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Intraday credit &amp; limits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47872"/>
            <a:ext cx="49834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See utilisation and early-warning signals during the day — not in tomorrow’s batch file.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51960"/>
            <a:ext cx="4983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AML optimisation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507992"/>
            <a:ext cx="49834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Fewer false positives, faster case handling, clearer stories for the regulator.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623560"/>
            <a:ext cx="49834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701C33"/>
                </a:solidFill>
                <a:latin typeface="Calibri"/>
                <a:ea typeface="Calibri"/>
                <a:cs typeface="Calibri"/>
              </a:rPr>
              <a:t>Business change: Risk and financial-crime teams work from live, trusted data instead of last night’s file.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1554480"/>
            <a:ext cx="5504688" cy="4645152"/>
          </a:xfrm>
          <a:prstGeom prst="roundRect">
            <a:avLst>
              <a:gd name="adj" fmla="val 8000"/>
            </a:avLst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55664" y="1700784"/>
            <a:ext cx="50292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WAVE 3   ·   12–36 MONTHS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5664" y="1956816"/>
            <a:ext cx="5029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Industrialise intelligence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2395728"/>
            <a:ext cx="4983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Feature store &amp; MLOps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2651760"/>
            <a:ext cx="49834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5DEE8"/>
                </a:solidFill>
                <a:latin typeface="Calibri"/>
                <a:ea typeface="Calibri"/>
                <a:cs typeface="Calibri"/>
              </a:rPr>
              <a:t>Reuse approved data “ingredients.” Models go live the same controlled way every time.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3355848"/>
            <a:ext cx="4983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GenAI assistants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5664" y="3611880"/>
            <a:ext cx="49834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5DEE8"/>
                </a:solidFill>
                <a:latin typeface="Calibri"/>
                <a:ea typeface="Calibri"/>
                <a:cs typeface="Calibri"/>
              </a:rPr>
              <a:t>Analysts, risk, and finance ask questions in plain language and draft reports from gold data.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5664" y="4315968"/>
            <a:ext cx="4983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Hyper-personalisation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5664" y="4572000"/>
            <a:ext cx="49834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5DEE8"/>
                </a:solidFill>
                <a:latin typeface="Calibri"/>
                <a:ea typeface="Calibri"/>
                <a:cs typeface="Calibri"/>
              </a:rPr>
              <a:t>Right offer, right channel, right moment — on data we can defend to Compliance.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55664" y="5623560"/>
            <a:ext cx="49834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Business change: AI is no longer a pilot on a side system. It runs on the data the bank already trusts.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620256"/>
            <a:ext cx="11240719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Confidential  ·  Internal use only  ·  On-premises data lakehouse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64592"/>
            <a:ext cx="4572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01C33"/>
                </a:solidFill>
                <a:latin typeface="Calibri"/>
                <a:ea typeface="Calibri"/>
                <a:cs typeface="Calibri"/>
              </a:rPr>
              <a:t>QNB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53167" y="164592"/>
            <a:ext cx="14630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10  / 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438912"/>
            <a:ext cx="11240719" cy="16459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530352"/>
            <a:ext cx="11240719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GOVERNANCE AND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768096"/>
            <a:ext cx="11240719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Know every number. Protect every customer.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152144"/>
            <a:ext cx="11240719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 lakehouse without governance is just a bigger garage. These three controls make it a bank platform.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572768"/>
            <a:ext cx="3611880" cy="288036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76656" y="1773936"/>
            <a:ext cx="329184" cy="329184"/>
          </a:xfrm>
          <a:prstGeom prst="ellipse">
            <a:avLst/>
          </a:prstGeom>
          <a:solidFill>
            <a:srgbClr val="70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1792224"/>
            <a:ext cx="329184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2212848"/>
            <a:ext cx="3200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Catalog and lineage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779776"/>
            <a:ext cx="32004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701C33"/>
                </a:solidFill>
                <a:latin typeface="Calibri"/>
                <a:ea typeface="Calibri"/>
                <a:cs typeface="Calibri"/>
              </a:rPr>
              <a:t>We know where each number comes from, who owns it, and how it was transformed.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3447287"/>
            <a:ext cx="32004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Like a library catalogue plus a paper trail. When Audit asks “why is NPL 1.4%?”, we show the path from core system → gold table → pack.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70248" y="1572768"/>
            <a:ext cx="3611880" cy="288036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71416" y="1773936"/>
            <a:ext cx="329184" cy="329184"/>
          </a:xfrm>
          <a:prstGeom prst="ellipse">
            <a:avLst/>
          </a:prstGeom>
          <a:solidFill>
            <a:srgbClr val="70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1416" y="1792224"/>
            <a:ext cx="329184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1416" y="2212848"/>
            <a:ext cx="3200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Access control and masking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1416" y="2779776"/>
            <a:ext cx="32004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701C33"/>
                </a:solidFill>
                <a:latin typeface="Calibri"/>
                <a:ea typeface="Calibri"/>
                <a:cs typeface="Calibri"/>
              </a:rPr>
              <a:t>Only the right people see sensitive data — and even then, only what they need.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1416" y="3447287"/>
            <a:ext cx="32004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Card numbers, national IDs, and salaries are masked by default. Role-based access for Finance, Risk, HR, and agencies.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5008" y="1572768"/>
            <a:ext cx="3611880" cy="288036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66176" y="1773936"/>
            <a:ext cx="329184" cy="329184"/>
          </a:xfrm>
          <a:prstGeom prst="ellipse">
            <a:avLst/>
          </a:prstGeom>
          <a:solidFill>
            <a:srgbClr val="70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6176" y="1792224"/>
            <a:ext cx="329184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6176" y="2212848"/>
            <a:ext cx="3200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Data quality rules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6" y="2779776"/>
            <a:ext cx="32004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701C33"/>
                </a:solidFill>
                <a:latin typeface="Calibri"/>
                <a:ea typeface="Calibri"/>
                <a:cs typeface="Calibri"/>
              </a:rPr>
              <a:t>Checks run before data is allowed to become “gold.”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66176" y="3447287"/>
            <a:ext cx="32004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Completeness, accuracy, timeliness. If a feed is late or broken, the management pack does not silently go out wrong.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4590288"/>
            <a:ext cx="3611880" cy="1389888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4754880"/>
            <a:ext cx="32004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Separate workloads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" y="5120640"/>
            <a:ext cx="320040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BI, risk calculations, and data science do not crowd each other out.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70248" y="4590288"/>
            <a:ext cx="3611880" cy="1389888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71416" y="4754880"/>
            <a:ext cx="32004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Cost monitoring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71416" y="5120640"/>
            <a:ext cx="320040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We see who uses what, so the platform stays affordable and fair.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65008" y="4590288"/>
            <a:ext cx="3611880" cy="1389888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6176" y="4754880"/>
            <a:ext cx="32004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Automation (DevOps)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6176" y="5120640"/>
            <a:ext cx="320040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Pipelines and models are deployed the same reliable way every time.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5488" y="6620256"/>
            <a:ext cx="11240719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Confidential  ·  Internal use only  ·  On-premises data lakehouse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64592"/>
            <a:ext cx="4572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01C33"/>
                </a:solidFill>
                <a:latin typeface="Calibri"/>
                <a:ea typeface="Calibri"/>
                <a:cs typeface="Calibri"/>
              </a:rPr>
              <a:t>QNB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53167" y="164592"/>
            <a:ext cx="14630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11  / 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438912"/>
            <a:ext cx="11240719" cy="16459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530352"/>
            <a:ext cx="11240719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AI AND FUTURE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768096"/>
            <a:ext cx="11240719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The lakehouse is how the bank does AI safely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152144"/>
            <a:ext cx="11240719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AI is only as trustworthy as the data underneath. This platform is that data — governed, on-premises, and reusable.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554480"/>
            <a:ext cx="3611880" cy="141732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700784"/>
            <a:ext cx="3200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Unified, governed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2176272"/>
            <a:ext cx="320040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Models train on the same gold the bank already reports. No shadow lakes on someone’s server.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0248" y="1554480"/>
            <a:ext cx="3611880" cy="141732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71416" y="1700784"/>
            <a:ext cx="3200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Feature store &amp; model registry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1416" y="2176272"/>
            <a:ext cx="320040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Approved ingredients for models, plus a catalogue of what is in production — explainable to Risk and Audit.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554480"/>
            <a:ext cx="3611880" cy="141732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6176" y="1700784"/>
            <a:ext cx="3200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GenAI copilot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6" y="2176272"/>
            <a:ext cx="320040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Business and risk users ask questions in everyday language, only on data they are allowed to see.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3127248"/>
            <a:ext cx="11240719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701C33"/>
                </a:solidFill>
                <a:latin typeface="Calibri"/>
                <a:ea typeface="Calibri"/>
                <a:cs typeface="Calibri"/>
              </a:rPr>
              <a:t>THREE CONCRETE EXAMPLES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3456432"/>
            <a:ext cx="3611880" cy="23317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5488" y="3456432"/>
            <a:ext cx="91440" cy="2331720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65760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Credit scoring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169664"/>
            <a:ext cx="315468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Fairer, more accurate decisions using full customer behaviour — with explanations a credit committee can read.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358384"/>
            <a:ext cx="3154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701C33"/>
                </a:solidFill>
                <a:latin typeface="Calibri"/>
                <a:ea typeface="Calibri"/>
                <a:cs typeface="Calibri"/>
              </a:rPr>
              <a:t>Risk  ·  Retail  ·  Corporate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70248" y="3456432"/>
            <a:ext cx="3611880" cy="23317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70248" y="3456432"/>
            <a:ext cx="91440" cy="2331720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26280" y="365760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Collections optimisation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4169664"/>
            <a:ext cx="315468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Who to contact, when, and how. Reduce NPLs without harming customers who would have paid anyway.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5358384"/>
            <a:ext cx="3154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701C33"/>
                </a:solidFill>
                <a:latin typeface="Calibri"/>
                <a:ea typeface="Calibri"/>
                <a:cs typeface="Calibri"/>
              </a:rPr>
              <a:t>Retail  ·  Special assets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5008" y="3456432"/>
            <a:ext cx="3611880" cy="23317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5008" y="3456432"/>
            <a:ext cx="91440" cy="2331720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365760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RM &amp; reporting copilots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4169664"/>
            <a:ext cx="315468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Brief a relationship manager before a client meeting, or draft a supervisory pack, from gold data — then a human signs it.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5358384"/>
            <a:ext cx="3154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701C33"/>
                </a:solidFill>
                <a:latin typeface="Calibri"/>
                <a:ea typeface="Calibri"/>
                <a:cs typeface="Calibri"/>
              </a:rPr>
              <a:t>Finance  ·  Risk  ·  Corporate RMs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6620256"/>
            <a:ext cx="11240719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Confidential  ·  Internal use only  ·  On-premises data lakehouse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64592"/>
            <a:ext cx="4572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01C33"/>
                </a:solidFill>
                <a:latin typeface="Calibri"/>
                <a:ea typeface="Calibri"/>
                <a:cs typeface="Calibri"/>
              </a:rPr>
              <a:t>QNB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53167" y="164592"/>
            <a:ext cx="14630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12  / 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438912"/>
            <a:ext cx="11240719" cy="16459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530352"/>
            <a:ext cx="11240719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768096"/>
            <a:ext cx="11240719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Endorse the lakehouse — then spend 90 days making it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152144"/>
            <a:ext cx="11240719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This is not an IT fashion. It is how the bank will trust its numbers, answer the regulator, and use AI without data leaving our walls.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572768"/>
            <a:ext cx="6720840" cy="1170432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76656" y="1956816"/>
            <a:ext cx="402336" cy="402336"/>
          </a:xfrm>
          <a:prstGeom prst="ellipse">
            <a:avLst/>
          </a:prstGeom>
          <a:solidFill>
            <a:srgbClr val="70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1993392"/>
            <a:ext cx="402336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25296" y="1737360"/>
            <a:ext cx="57150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Endorse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5296" y="2084832"/>
            <a:ext cx="571500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Name the on-premises lakehouse as the bank’s strategic platform for analytics, reporting, and AI.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" y="2852928"/>
            <a:ext cx="6720840" cy="1170432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76656" y="3236976"/>
            <a:ext cx="402336" cy="402336"/>
          </a:xfrm>
          <a:prstGeom prst="ellipse">
            <a:avLst/>
          </a:prstGeom>
          <a:solidFill>
            <a:srgbClr val="70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3273552"/>
            <a:ext cx="402336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3017520"/>
            <a:ext cx="57150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Sponsor Wave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3364992"/>
            <a:ext cx="571500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EDW modernisation, regulatory/financial reporting, and Customer 360 — with named executive sponsors.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4133088"/>
            <a:ext cx="6720840" cy="1170432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6656" y="4517136"/>
            <a:ext cx="402336" cy="402336"/>
          </a:xfrm>
          <a:prstGeom prst="ellipse">
            <a:avLst/>
          </a:prstGeom>
          <a:solidFill>
            <a:srgbClr val="70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4553712"/>
            <a:ext cx="402336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4297680"/>
            <a:ext cx="57150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Keep it 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4645152"/>
            <a:ext cx="571500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Confirm the constraint: commercially supported tools, fully inside our data centres, hardened for a regulated bank.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24927" y="1572768"/>
            <a:ext cx="4297680" cy="3730752"/>
          </a:xfrm>
          <a:prstGeom prst="roundRect">
            <a:avLst>
              <a:gd name="adj" fmla="val 8000"/>
            </a:avLst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44383" y="1737360"/>
            <a:ext cx="38862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NEXT 90 DAYS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44383" y="2157984"/>
            <a:ext cx="3657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10144" y="2157984"/>
            <a:ext cx="3474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Confirm target architecture and a short list of on-premises products.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44383" y="2907792"/>
            <a:ext cx="3657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4" y="2907792"/>
            <a:ext cx="3474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Pick Wave 1 data domains (Finance, Risk, Customer) and source systems.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44383" y="3657600"/>
            <a:ext cx="3657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0144" y="3657600"/>
            <a:ext cx="3474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Stand up a governance working group: Data, Risk, Finance, IT, Compliance.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44383" y="4407408"/>
            <a:ext cx="3657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5A059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10144" y="4407408"/>
            <a:ext cx="3474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Produce the investment case, operating model, and success metrics.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5488" y="5486400"/>
            <a:ext cx="11240719" cy="960120"/>
          </a:xfrm>
          <a:prstGeom prst="roundRect">
            <a:avLst>
              <a:gd name="adj" fmla="val 8000"/>
            </a:avLst>
          </a:prstGeom>
          <a:solidFill>
            <a:srgbClr val="F4E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8" y="5632704"/>
            <a:ext cx="10783519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The lakehouse is the bank’s filing system, library, and kitchen for AI — in one building we own. Approve the direction, and we will return with architecture, cost, and a Wave 1 plan.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5488" y="6620256"/>
            <a:ext cx="11240719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Confidential  ·  Internal use only  ·  On-premises data lakehouse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